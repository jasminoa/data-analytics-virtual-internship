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8320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91840"/>
            <a:ext cx="1219200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SAVVY DATALYTICS SOLUTIONS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78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Analytics Portfolio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Skill2Scale 4-Week Virtual Internship | Q3 2025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3383280"/>
            <a:ext cx="12192000" cy="25603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520440"/>
            <a:ext cx="10789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Analyst:       Augustine Jasmine Oyindeinyefa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Title:             Data Analyst &amp; Business Intelligence Specialist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Organisation: Savvy Datalytics Solutions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Client:            Linda Williams — Savvy </a:t>
            </a:r>
            <a:r>
              <a:rPr lang="en-US" sz="1300" dirty="0" err="1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Datalytics</a:t>
            </a: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Solutions (Toronto, Canada)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Period:          Q3 2025 | July – September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Used:   Power BI  |  Microsoft Excel  |  DAX  |  Data Cleaning &amp; Documentation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331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SAVVY DATALYTICS SOLUTIONS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 &amp; Scope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137160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289491"/>
            <a:ext cx="5029200" cy="475488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Engagement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Acted as the sole Data Analyst Savvy </a:t>
            </a:r>
            <a:r>
              <a:rPr lang="en-US" sz="1200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Datalytics</a:t>
            </a: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Solutions, a digital marketing consultancy.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39572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Tasked with cleaning raw Q3 campaign data, building a Power BI dashboard, producing insights, and delivering executive-ready reports — from scratch.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96265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Three datasets processed: Campaign_Data_Q3 (primary), Ad_Spend_JulySept, and Leads_Report.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529584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Deliverables spanned 4 weeks: data foundations, dashboarding, business intelligence, and executive reporting.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0" y="1280160"/>
            <a:ext cx="6309360" cy="4754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0" y="14173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4-Week Breakdown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760720" y="1874520"/>
            <a:ext cx="6035040" cy="1005840"/>
          </a:xfrm>
          <a:prstGeom prst="rect">
            <a:avLst/>
          </a:prstGeom>
          <a:solidFill>
            <a:srgbClr val="1A1A2E"/>
          </a:solidFill>
          <a:ln w="6350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0" y="19476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903720" y="192938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Foundations &amp; Organisation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52160" y="2258568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Cleaned datasets, built Data Dictionary, Folder SOP, exploratory analysis, client email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760720" y="2971800"/>
            <a:ext cx="6035040" cy="1005840"/>
          </a:xfrm>
          <a:prstGeom prst="rect">
            <a:avLst/>
          </a:prstGeom>
          <a:solidFill>
            <a:srgbClr val="1A1A2E"/>
          </a:solidFill>
          <a:ln w="6350">
            <a:solidFill>
              <a:srgbClr val="2E86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0" y="3044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03720" y="302666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 &amp; Insight Communication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52160" y="3355848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dashboard (31 visuals), KPIs, 2-page Insights Report, Executive Summary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760720" y="4069080"/>
            <a:ext cx="6035040" cy="1005840"/>
          </a:xfrm>
          <a:prstGeom prst="rect">
            <a:avLst/>
          </a:prstGeom>
          <a:solidFill>
            <a:srgbClr val="1A1A2E"/>
          </a:solidFill>
          <a:ln w="6350">
            <a:solidFill>
              <a:srgbClr val="2E86A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0" y="41422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03720" y="412394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Intelligence &amp; Predictive Insights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852160" y="4453128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analysis, correlation analysis, segmentation, Q4 projection, competitor matrix, insight memo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760720" y="5166360"/>
            <a:ext cx="6035040" cy="1005840"/>
          </a:xfrm>
          <a:prstGeom prst="rect">
            <a:avLst/>
          </a:prstGeom>
          <a:solidFill>
            <a:srgbClr val="1A1A2E"/>
          </a:solidFill>
          <a:ln w="6350">
            <a:solidFill>
              <a:srgbClr val="2E86A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52160" y="523951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03720" y="522122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Reporting &amp; Portfolio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852160" y="5550408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End-of-Month Analytics Report, Business Optimization Proposal, Reflection, this presentation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6309360"/>
            <a:ext cx="1219200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6327648"/>
            <a:ext cx="1170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Augustine Jasmine Oyindeinyefa  |  Data Analyst &amp; Business Intelligence Specialist  |  Savvy Datalytics Solutions  |  Skill2Scale Virtual Internship | Q3 2025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SAVVY DATALYTICS SOLUTIONS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2025 — Key Performance Results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137160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280160"/>
            <a:ext cx="3474720" cy="1463040"/>
          </a:xfrm>
          <a:prstGeom prst="rect">
            <a:avLst/>
          </a:prstGeom>
          <a:solidFill>
            <a:srgbClr val="D6EAF8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71600"/>
            <a:ext cx="3474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$2,422,385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4320" y="2084832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 Generated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0" y="1280160"/>
            <a:ext cx="3474720" cy="1463040"/>
          </a:xfrm>
          <a:prstGeom prst="rect">
            <a:avLst/>
          </a:prstGeom>
          <a:solidFill>
            <a:srgbClr val="D6EAF8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1371600"/>
            <a:ext cx="3474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$713,478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114800" y="2084832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Ad Spend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955280" y="1280160"/>
            <a:ext cx="3474720" cy="1463040"/>
          </a:xfrm>
          <a:prstGeom prst="rect">
            <a:avLst/>
          </a:prstGeom>
          <a:solidFill>
            <a:srgbClr val="D6EAF8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0" y="1371600"/>
            <a:ext cx="3474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239.5%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955280" y="2084832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ROI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017520"/>
            <a:ext cx="3474720" cy="1463040"/>
          </a:xfrm>
          <a:prstGeom prst="rect">
            <a:avLst/>
          </a:prstGeom>
          <a:solidFill>
            <a:srgbClr val="D6EAF8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108960"/>
            <a:ext cx="3474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2,246,443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74320" y="3822192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Clicks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0" y="3017520"/>
            <a:ext cx="3474720" cy="1463040"/>
          </a:xfrm>
          <a:prstGeom prst="rect">
            <a:avLst/>
          </a:prstGeom>
          <a:solidFill>
            <a:srgbClr val="D6EAF8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0" y="3108960"/>
            <a:ext cx="3474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119,486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114800" y="3822192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Conversions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955280" y="3017520"/>
            <a:ext cx="3474720" cy="1463040"/>
          </a:xfrm>
          <a:prstGeom prst="rect">
            <a:avLst/>
          </a:prstGeom>
          <a:solidFill>
            <a:srgbClr val="D6EAF8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0" y="3108960"/>
            <a:ext cx="3474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5.32%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955280" y="3822192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Rate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4663440"/>
            <a:ext cx="11430000" cy="1463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73659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 at a Glance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5047488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All 5 channels exceeded 212% ROI — no underperforming channel in the mix     ★ TikTok Ads led with 259.6% ROI and $538,986 in revenue     ★ Holiday Promo was the #1 campaign by revenue ($597,028) and ROI (254.3%)     ★ August was peak month: $865,736 revenue at 246.5% ROI     ★ Clicks → Conversions correlation is weak — quality of traffic matters more than volume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0" y="6309360"/>
            <a:ext cx="1219200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6327648"/>
            <a:ext cx="1170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Augustine Jasmine Oyindeinyefa  |  Data Analyst &amp; Business Intelligence Specialist  |  Savvy Datalytics Solutions  |  Skill2Scale Virtual Internship | Q3 2025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SAVVY DATALYTICS SOLUTIONS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Dashboard — Marketing Performance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137160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261872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Structure — 4 Pages | 31 Visuals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691640"/>
            <a:ext cx="11430000" cy="960120"/>
          </a:xfrm>
          <a:prstGeom prst="rect">
            <a:avLst/>
          </a:prstGeom>
          <a:solidFill>
            <a:srgbClr val="1E3A5F"/>
          </a:solidFill>
          <a:ln w="635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83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1: Marketing Performance Dashboard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112264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visuals — 6 KPI cards, channel bars, Top 5 Campaigns, Revenue trend line, Donut chart, 3 slicers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743200"/>
            <a:ext cx="11430000" cy="960120"/>
          </a:xfrm>
          <a:prstGeom prst="rect">
            <a:avLst/>
          </a:prstGeom>
          <a:solidFill>
            <a:srgbClr val="1B4F72"/>
          </a:solidFill>
          <a:ln w="635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34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2: Trend Analysis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163824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visuals — Revenue trend, Conversions trend, Revenue+Spend combo, ROI trend, Channel trend, Q4 Projection card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794760"/>
            <a:ext cx="11430000" cy="960120"/>
          </a:xfrm>
          <a:prstGeom prst="rect">
            <a:avLst/>
          </a:prstGeom>
          <a:solidFill>
            <a:srgbClr val="154360"/>
          </a:solidFill>
          <a:ln w="635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886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3: Correlation Analysis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215384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scatter charts — Ad Spend vs Revenue, Ad Spend vs Conversions, Clicks vs Conversions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4846320"/>
            <a:ext cx="11430000" cy="960120"/>
          </a:xfrm>
          <a:prstGeom prst="rect">
            <a:avLst/>
          </a:prstGeom>
          <a:solidFill>
            <a:srgbClr val="0E2D47"/>
          </a:solidFill>
          <a:ln w="6350">
            <a:solidFill>
              <a:srgbClr val="2E86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937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4: Segmentation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5266944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visuals — Performance segment by Revenue, Donut, Spend, and Conversion Rate (SWITCH/TRUE() DAX logic)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5943600"/>
            <a:ext cx="11430000" cy="274320"/>
          </a:xfrm>
          <a:prstGeom prst="rect">
            <a:avLst/>
          </a:prstGeom>
          <a:solidFill>
            <a:srgbClr val="EBF4F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5971032"/>
            <a:ext cx="11064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Power BI Desktop  |  DAX (SWITCH/TRUE, CALCULATE, DIVIDE)  |  Excel serial date conversion  |  Custom DateTable with Month column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6309360"/>
            <a:ext cx="1219200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6327648"/>
            <a:ext cx="1170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Augustine Jasmine Oyindeinyefa  |  Data Analyst &amp; Business Intelligence Specialist  |  Savvy Datalytics Solutions  |  Skill2Scale Virtual Internship | Q3 2025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SAVVY DATALYTICS SOLUTIONS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Analysis &amp; Correlation Findings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137160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280160"/>
            <a:ext cx="5486400" cy="4754880"/>
          </a:xfrm>
          <a:prstGeom prst="rect">
            <a:avLst/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8988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Trend Analysis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1371600" cy="20116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7373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226.6%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224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377440" y="1828800"/>
            <a:ext cx="1371600" cy="23774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2377440" y="13716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246.5%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77440" y="4224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0" y="2304288"/>
            <a:ext cx="1371600" cy="19019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0" y="1847088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245.9%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0" y="42245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61772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August was peak month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$865,736 revenue | 246.5% ROI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+8.4% MoM revenue growth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1280160"/>
            <a:ext cx="5852160" cy="4754880"/>
          </a:xfrm>
          <a:prstGeom prst="rect">
            <a:avLst/>
          </a:prstGeom>
          <a:solidFill>
            <a:srgbClr val="1E3A5F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3898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Analysis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9360" y="18745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Spend → Revenue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09360" y="2148840"/>
            <a:ext cx="4507992" cy="201168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23" name="Shape 21"/>
          <p:cNvSpPr/>
          <p:nvPr/>
        </p:nvSpPr>
        <p:spPr>
          <a:xfrm>
            <a:off x="6309360" y="2148840"/>
            <a:ext cx="5303520" cy="201168"/>
          </a:xfrm>
          <a:prstGeom prst="rect">
            <a:avLst/>
          </a:prstGeom>
          <a:ln w="635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2377440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29718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Spend → Conversions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09360" y="3246120"/>
            <a:ext cx="2916936" cy="201168"/>
          </a:xfrm>
          <a:prstGeom prst="rect">
            <a:avLst/>
          </a:prstGeom>
          <a:solidFill>
            <a:srgbClr val="7D5A00"/>
          </a:solidFill>
          <a:ln/>
        </p:spPr>
      </p:sp>
      <p:sp>
        <p:nvSpPr>
          <p:cNvPr id="27" name="Shape 25"/>
          <p:cNvSpPr/>
          <p:nvPr/>
        </p:nvSpPr>
        <p:spPr>
          <a:xfrm>
            <a:off x="6309360" y="3246120"/>
            <a:ext cx="5303520" cy="201168"/>
          </a:xfrm>
          <a:prstGeom prst="rect">
            <a:avLst/>
          </a:prstGeom>
          <a:ln w="635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3474720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D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40690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Clicks → Conversions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09360" y="4343400"/>
            <a:ext cx="1166774" cy="201168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1" name="Shape 29"/>
          <p:cNvSpPr/>
          <p:nvPr/>
        </p:nvSpPr>
        <p:spPr>
          <a:xfrm>
            <a:off x="6309360" y="4343400"/>
            <a:ext cx="5303520" cy="201168"/>
          </a:xfrm>
          <a:prstGeom prst="rect">
            <a:avLst/>
          </a:prstGeom>
          <a:ln w="635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4572000"/>
            <a:ext cx="5303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09360" y="5166360"/>
            <a:ext cx="5486400" cy="658368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5193792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Click volume does not reliably predict conversions. Traffic quality outweighs traffic volume — shifting optimisation focus from CPC to CRO is the highest-impact action available.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6309360"/>
            <a:ext cx="1219200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6327648"/>
            <a:ext cx="1170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Augustine Jasmine Oyindeinyefa  |  Data Analyst &amp; Business Intelligence Specialist  |  Savvy Datalytics Solutions  |  Skill2Scale Virtual Internship | Q3 2025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SAVVY DATALYTICS SOLUTIONS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 Analysis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137160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298448"/>
            <a:ext cx="2926080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316736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298448"/>
            <a:ext cx="2926080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316736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Digital Edge Pro (A)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298448"/>
            <a:ext cx="2926080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6172200" y="1316736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Savvy </a:t>
            </a:r>
            <a:r>
              <a:rPr lang="en-US" sz="1100" b="1" dirty="0" err="1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Datalytics</a:t>
            </a: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Solutions (Us)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52560" y="1298448"/>
            <a:ext cx="3017520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9098280" y="1316736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MediaPulse Agency (B)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1664208"/>
            <a:ext cx="2926080" cy="521208"/>
          </a:xfrm>
          <a:prstGeom prst="rect">
            <a:avLst/>
          </a:prstGeom>
          <a:solidFill>
            <a:srgbClr val="EBF4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709928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Revenue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0" y="1664208"/>
            <a:ext cx="2926080" cy="521208"/>
          </a:xfrm>
          <a:prstGeom prst="rect">
            <a:avLst/>
          </a:prstGeom>
          <a:solidFill>
            <a:srgbClr val="F7FBF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1709928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$2,780,000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1664208"/>
            <a:ext cx="2926080" cy="521208"/>
          </a:xfrm>
          <a:prstGeom prst="rect">
            <a:avLst/>
          </a:prstGeom>
          <a:solidFill>
            <a:srgbClr val="F7FBF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1709928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$2,422,385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052560" y="1664208"/>
            <a:ext cx="3017520" cy="521208"/>
          </a:xfrm>
          <a:prstGeom prst="rect">
            <a:avLst/>
          </a:prstGeom>
          <a:solidFill>
            <a:srgbClr val="F7FBF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98280" y="1709928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$1,680,000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74320" y="2203704"/>
            <a:ext cx="2926080" cy="521208"/>
          </a:xfrm>
          <a:prstGeom prst="rect">
            <a:avLst/>
          </a:prstGeom>
          <a:solidFill>
            <a:srgbClr val="EBF4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249424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ROI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200400" y="2203704"/>
            <a:ext cx="292608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6120" y="2249424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199.0%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126480" y="2203704"/>
            <a:ext cx="292608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2249424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239.5% ★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052560" y="2203704"/>
            <a:ext cx="301752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98280" y="2249424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171.8%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74320" y="2743200"/>
            <a:ext cx="2926080" cy="521208"/>
          </a:xfrm>
          <a:prstGeom prst="rect">
            <a:avLst/>
          </a:prstGeom>
          <a:solidFill>
            <a:srgbClr val="EBF4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2788920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 per $ Spent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200400" y="2743200"/>
            <a:ext cx="2926080" cy="521208"/>
          </a:xfrm>
          <a:prstGeom prst="rect">
            <a:avLst/>
          </a:prstGeom>
          <a:solidFill>
            <a:srgbClr val="F7FBF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46120" y="2788920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$2.99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126480" y="2743200"/>
            <a:ext cx="2926080" cy="521208"/>
          </a:xfrm>
          <a:prstGeom prst="rect">
            <a:avLst/>
          </a:prstGeom>
          <a:solidFill>
            <a:srgbClr val="F7FBF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0" y="2788920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$3.40 ★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9052560" y="2743200"/>
            <a:ext cx="3017520" cy="521208"/>
          </a:xfrm>
          <a:prstGeom prst="rect">
            <a:avLst/>
          </a:prstGeom>
          <a:solidFill>
            <a:srgbClr val="F7FBF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98280" y="2788920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$2.72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274320" y="3282696"/>
            <a:ext cx="2926080" cy="521208"/>
          </a:xfrm>
          <a:prstGeom prst="rect">
            <a:avLst/>
          </a:prstGeom>
          <a:solidFill>
            <a:srgbClr val="EBF4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3328416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Cost/Conversion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3200400" y="3282696"/>
            <a:ext cx="292608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46120" y="3328416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$8.54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126480" y="3282696"/>
            <a:ext cx="292608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72200" y="3328416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$5.97 ★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9052560" y="3282696"/>
            <a:ext cx="301752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098280" y="3328416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$7.63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274320" y="3822192"/>
            <a:ext cx="2926080" cy="521208"/>
          </a:xfrm>
          <a:prstGeom prst="rect">
            <a:avLst/>
          </a:prstGeom>
          <a:solidFill>
            <a:srgbClr val="EBF4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3867912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 Active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3200400" y="3822192"/>
            <a:ext cx="2926080" cy="521208"/>
          </a:xfrm>
          <a:prstGeom prst="rect">
            <a:avLst/>
          </a:prstGeom>
          <a:solidFill>
            <a:srgbClr val="F7FBF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46120" y="3867912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126480" y="3822192"/>
            <a:ext cx="2926080" cy="521208"/>
          </a:xfrm>
          <a:prstGeom prst="rect">
            <a:avLst/>
          </a:prstGeom>
          <a:solidFill>
            <a:srgbClr val="F7FBF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72200" y="3867912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9052560" y="3822192"/>
            <a:ext cx="3017520" cy="521208"/>
          </a:xfrm>
          <a:prstGeom prst="rect">
            <a:avLst/>
          </a:prstGeom>
          <a:solidFill>
            <a:srgbClr val="F7FBF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098280" y="3867912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274320" y="4361688"/>
            <a:ext cx="2926080" cy="521208"/>
          </a:xfrm>
          <a:prstGeom prst="rect">
            <a:avLst/>
          </a:prstGeom>
          <a:solidFill>
            <a:srgbClr val="EBF4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0040" y="4407408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Channel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3200400" y="4361688"/>
            <a:ext cx="292608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46120" y="4407408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Ads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6126480" y="4361688"/>
            <a:ext cx="292608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72200" y="4407408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Ads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9052560" y="4361688"/>
            <a:ext cx="301752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098280" y="4407408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Ads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274320" y="4901184"/>
            <a:ext cx="2926080" cy="521208"/>
          </a:xfrm>
          <a:prstGeom prst="rect">
            <a:avLst/>
          </a:prstGeom>
          <a:solidFill>
            <a:srgbClr val="EBF4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0040" y="4946904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3200400" y="4901184"/>
            <a:ext cx="2926080" cy="521208"/>
          </a:xfrm>
          <a:prstGeom prst="rect">
            <a:avLst/>
          </a:prstGeom>
          <a:solidFill>
            <a:srgbClr val="F7FBF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46120" y="4946904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BI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6126480" y="4901184"/>
            <a:ext cx="2926080" cy="521208"/>
          </a:xfrm>
          <a:prstGeom prst="rect">
            <a:avLst/>
          </a:prstGeom>
          <a:solidFill>
            <a:srgbClr val="F7FBF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172200" y="4946904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Power BI ★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9052560" y="4901184"/>
            <a:ext cx="3017520" cy="521208"/>
          </a:xfrm>
          <a:prstGeom prst="rect">
            <a:avLst/>
          </a:prstGeom>
          <a:solidFill>
            <a:srgbClr val="F7FBFE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098280" y="4946904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1150" dirty="0"/>
          </a:p>
        </p:txBody>
      </p:sp>
      <p:sp>
        <p:nvSpPr>
          <p:cNvPr id="71" name="Shape 69"/>
          <p:cNvSpPr/>
          <p:nvPr/>
        </p:nvSpPr>
        <p:spPr>
          <a:xfrm>
            <a:off x="274320" y="5440680"/>
            <a:ext cx="2926080" cy="521208"/>
          </a:xfrm>
          <a:prstGeom prst="rect">
            <a:avLst/>
          </a:prstGeom>
          <a:solidFill>
            <a:srgbClr val="EBF4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20040" y="5486400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Rank</a:t>
            </a:r>
            <a:endParaRPr lang="en-US" sz="1150" dirty="0"/>
          </a:p>
        </p:txBody>
      </p:sp>
      <p:sp>
        <p:nvSpPr>
          <p:cNvPr id="73" name="Shape 71"/>
          <p:cNvSpPr/>
          <p:nvPr/>
        </p:nvSpPr>
        <p:spPr>
          <a:xfrm>
            <a:off x="3200400" y="5440680"/>
            <a:ext cx="292608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246120" y="5486400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 Revenue</a:t>
            </a:r>
            <a:endParaRPr lang="en-US" sz="1150" dirty="0"/>
          </a:p>
        </p:txBody>
      </p:sp>
      <p:sp>
        <p:nvSpPr>
          <p:cNvPr id="75" name="Shape 73"/>
          <p:cNvSpPr/>
          <p:nvPr/>
        </p:nvSpPr>
        <p:spPr>
          <a:xfrm>
            <a:off x="6126480" y="5440680"/>
            <a:ext cx="292608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172200" y="5486400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 Efficiency ★</a:t>
            </a:r>
            <a:endParaRPr lang="en-US" sz="1150" dirty="0"/>
          </a:p>
        </p:txBody>
      </p:sp>
      <p:sp>
        <p:nvSpPr>
          <p:cNvPr id="77" name="Shape 75"/>
          <p:cNvSpPr/>
          <p:nvPr/>
        </p:nvSpPr>
        <p:spPr>
          <a:xfrm>
            <a:off x="9052560" y="5440680"/>
            <a:ext cx="301752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098280" y="5486400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</a:t>
            </a:r>
            <a:endParaRPr lang="en-US" sz="1150" dirty="0"/>
          </a:p>
        </p:txBody>
      </p:sp>
      <p:sp>
        <p:nvSpPr>
          <p:cNvPr id="79" name="Text 77"/>
          <p:cNvSpPr/>
          <p:nvPr/>
        </p:nvSpPr>
        <p:spPr>
          <a:xfrm>
            <a:off x="274320" y="601675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Savvy Solutions ranks #2 by raw revenue but #1 by ROI and cost efficiency — meaning every dollar spent returns more than both competitors.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0" y="6309360"/>
            <a:ext cx="1219200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1" name="Text 79"/>
          <p:cNvSpPr/>
          <p:nvPr/>
        </p:nvSpPr>
        <p:spPr>
          <a:xfrm>
            <a:off x="274320" y="6327648"/>
            <a:ext cx="1170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Augustine Jasmine Oyindeinyefa  |  Data Analyst &amp; Business Intelligence Specialist  |  Savvy Datalytics Solutions  |  Skill2Scale Virtual Internship | Q3 2025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SAVVY DATALYTICS SOLUTIONS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Strategy &amp; Revenue Projection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137160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298448"/>
            <a:ext cx="3657600" cy="2011680"/>
          </a:xfrm>
          <a:prstGeom prst="rect">
            <a:avLst/>
          </a:prstGeom>
          <a:solidFill>
            <a:srgbClr val="D5D8DC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8988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79222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~$2,422,000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65760" y="237744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Q3 average monthly revenue held constant across Q4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06240" y="1298448"/>
            <a:ext cx="3657600" cy="2011680"/>
          </a:xfrm>
          <a:prstGeom prst="rect">
            <a:avLst/>
          </a:prstGeom>
          <a:solidFill>
            <a:srgbClr val="D6EAF8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138988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97680" y="179222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~$2,622,000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297680" y="237744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 MoM growth applied — half of August growth rate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38160" y="1298448"/>
            <a:ext cx="3657600" cy="2011680"/>
          </a:xfrm>
          <a:prstGeom prst="rect">
            <a:avLst/>
          </a:prstGeom>
          <a:solidFill>
            <a:srgbClr val="1E3A5F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138988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Optimistic ★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0" y="179222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~$2,824,000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229600" y="237744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8.4% MoM sustained — requires Holiday Promo activation + TikTok budget increase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456432"/>
            <a:ext cx="11430000" cy="274320"/>
          </a:xfrm>
          <a:prstGeom prst="rect">
            <a:avLst/>
          </a:prstGeom>
          <a:solidFill>
            <a:srgbClr val="FFF8E1"/>
          </a:solidFill>
          <a:ln w="6350">
            <a:solidFill>
              <a:srgbClr val="7D5A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474720"/>
            <a:ext cx="11155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D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 Caveat: Built on 3 months of Q3 data — directional planning estimates only, not financial commitments.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3840480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Q4 Strategic Actions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74320" y="4251960"/>
            <a:ext cx="11430000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Scale TikTok Ads budget +15–20%  — highest ROI channel at 259.6%; strongest scaling opportunity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4654296"/>
            <a:ext cx="11430000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Activate Holiday Promo in early October  — Q3 top revenue generator ($597,028) and top ROI campaign (254.3%)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" y="5056632"/>
            <a:ext cx="11430000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Shift from CPC to CRO  — clicks-to-conversions correlation is weak; landing page quality is the lever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4320" y="5458968"/>
            <a:ext cx="11430000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Review Lead Gen campaign targeting  — only campaign below 200% ROI in Q3; needs audience segment refresh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74320" y="5861304"/>
            <a:ext cx="11430000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Implement automated Power BI pipeline  — replace manual reporting cycle with daily refresh + KPI threshold alerts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6309360"/>
            <a:ext cx="1219200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6327648"/>
            <a:ext cx="1170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Augustine Jasmine Oyindeinyefa  |  Data Analyst &amp; Business Intelligence Specialist  |  Savvy Datalytics Solutions  |  Skill2Scale Virtual Internship | Q3 2025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1219200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SAVVY DATALYTICS SOLUTIONS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Data to Executive Insight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Summary of the Skill2Scale Engagement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0" y="3291840"/>
            <a:ext cx="12192000" cy="33832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3832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 Completed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3767328"/>
            <a:ext cx="5486400" cy="658368"/>
          </a:xfrm>
          <a:prstGeom prst="rect">
            <a:avLst/>
          </a:prstGeom>
          <a:solidFill>
            <a:srgbClr val="0D1B2A"/>
          </a:solidFill>
          <a:ln w="635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822192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Cleaned &amp; Documented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406908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raw Q3 datasets fully audited, cleaned, and documented with Data Dictionary and Folder SOP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4535424"/>
            <a:ext cx="5486400" cy="658368"/>
          </a:xfrm>
          <a:prstGeom prst="rect">
            <a:avLst/>
          </a:prstGeom>
          <a:solidFill>
            <a:srgbClr val="0D1B2A"/>
          </a:solidFill>
          <a:ln w="635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4590288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Dashboard Built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4837176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31-visual Power BI dashboard across 4 pages — KPIs, trends, correlations, and segmentation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5303520"/>
            <a:ext cx="5486400" cy="658368"/>
          </a:xfrm>
          <a:prstGeom prst="rect">
            <a:avLst/>
          </a:prstGeom>
          <a:solidFill>
            <a:srgbClr val="0D1B2A"/>
          </a:solidFill>
          <a:ln w="6350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5358384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Insight Delivered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5605272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 weak clicks-to-conversions correlation — highest-value strategic finding of the engagement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3767328"/>
            <a:ext cx="5486400" cy="658368"/>
          </a:xfrm>
          <a:prstGeom prst="rect">
            <a:avLst/>
          </a:prstGeom>
          <a:solidFill>
            <a:srgbClr val="0D1B2A"/>
          </a:solidFill>
          <a:ln w="6350">
            <a:solidFill>
              <a:srgbClr val="2E86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3822192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Business Intelligence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406908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projection ($2.42M–$2.82M range), competitor matrix, and 1-page strategic insight memo produced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4535424"/>
            <a:ext cx="5486400" cy="658368"/>
          </a:xfrm>
          <a:prstGeom prst="rect">
            <a:avLst/>
          </a:prstGeom>
          <a:solidFill>
            <a:srgbClr val="0D1B2A"/>
          </a:solidFill>
          <a:ln w="6350">
            <a:solidFill>
              <a:srgbClr val="2E86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4590288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Executive Reporting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4837176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End-of-Month Report, Business Optimization Proposal, and Reflection delivered to professional standard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626364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Augustine Jasmine Oyindeinyefa  |  Data Analyst &amp; Business Intelligence Specialist  |  Savvy Datalytics Solutions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1151</Words>
  <Application>Microsoft Office PowerPoint</Application>
  <PresentationFormat>Widescreen</PresentationFormat>
  <Paragraphs>166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Augustine, Jasmine</cp:lastModifiedBy>
  <cp:revision>2</cp:revision>
  <dcterms:created xsi:type="dcterms:W3CDTF">2026-06-23T08:42:11Z</dcterms:created>
  <dcterms:modified xsi:type="dcterms:W3CDTF">2026-06-24T00:10:49Z</dcterms:modified>
</cp:coreProperties>
</file>